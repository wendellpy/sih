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 Requirement Coverage: ULPIN Generation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/>
            </a:pPr>
            <a:r>
              <a:t>Surface Parcel (New)</a:t>
            </a:r>
          </a:p>
          <a:p>
            <a:pPr>
              <a:defRPr sz="1400">
                <a:solidFill>
                  <a:srgbClr val="008000"/>
                </a:solidFill>
              </a:defRPr>
            </a:pPr>
            <a:r>
              <a:t>ULPIN: MH13BOM04521873.S00-SURFACE</a:t>
            </a:r>
          </a:p>
          <a:p>
            <a:br/>
            <a:pPr>
              <a:defRPr sz="1200"/>
            </a:pPr>
            <a:r>
              <a:t>Scale Achieved:</a:t>
            </a:r>
            <a:br/>
            <a:r>
              <a:t>8 real cadastral parcels processed across Mumbai Suburban &amp; Mumbai City districts.</a:t>
            </a:r>
          </a:p>
          <a:p>
            <a:br/>
            <a:pPr>
              <a:defRPr sz="1200"/>
            </a:pPr>
            <a:r>
              <a:t>Status: Validated with Property Card generator. Slope-correction fallback added.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8288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/>
            </a:pPr>
            <a:r>
              <a:t>Multi-storey Building</a:t>
            </a:r>
          </a:p>
          <a:p>
            <a:pPr>
              <a:defRPr sz="1400">
                <a:solidFill>
                  <a:srgbClr val="008000"/>
                </a:solidFill>
              </a:defRPr>
            </a:pPr>
            <a:r>
              <a:t>ULPIN: MH13BOM04521873.A+02-201</a:t>
            </a:r>
          </a:p>
          <a:p>
            <a:br/>
            <a:pPr>
              <a:defRPr sz="1200"/>
            </a:pPr>
            <a:r>
              <a:t>Coverage:</a:t>
            </a:r>
            <a:br/>
            <a:r>
              <a:t>Fully supported via Floorplan vectorization and 3D Extrusion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/>
            </a:pPr>
            <a:r>
              <a:t>Underground Infra</a:t>
            </a:r>
          </a:p>
          <a:p>
            <a:pPr>
              <a:defRPr sz="1400">
                <a:solidFill>
                  <a:srgbClr val="008000"/>
                </a:solidFill>
              </a:defRPr>
            </a:pPr>
            <a:r>
              <a:t>ULPIN: MH13BOM04521873.U-01-WSUP12</a:t>
            </a:r>
          </a:p>
          <a:p>
            <a:br/>
            <a:pPr>
              <a:defRPr sz="1200"/>
            </a:pPr>
            <a:r>
              <a:t>Coverage:</a:t>
            </a:r>
            <a:br/>
            <a:r>
              <a:t>Supported via 3D Depth profiles and Utility clearance checking.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